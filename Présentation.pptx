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5"/>
  </p:notesMasterIdLst>
  <p:sldIdLst>
    <p:sldId id="256" r:id="rId2"/>
    <p:sldId id="258" r:id="rId3"/>
    <p:sldId id="260" r:id="rId4"/>
    <p:sldId id="317" r:id="rId5"/>
    <p:sldId id="261" r:id="rId6"/>
    <p:sldId id="262" r:id="rId7"/>
    <p:sldId id="314" r:id="rId8"/>
    <p:sldId id="312" r:id="rId9"/>
    <p:sldId id="313" r:id="rId10"/>
    <p:sldId id="315" r:id="rId11"/>
    <p:sldId id="316" r:id="rId12"/>
    <p:sldId id="318" r:id="rId13"/>
    <p:sldId id="319" r:id="rId14"/>
  </p:sldIdLst>
  <p:sldSz cx="9144000" cy="5143500" type="screen16x9"/>
  <p:notesSz cx="6858000" cy="9144000"/>
  <p:embeddedFontLst>
    <p:embeddedFont>
      <p:font typeface="Koulen" panose="020B0604020202020204" charset="0"/>
      <p:regular r:id="rId16"/>
    </p:embeddedFont>
    <p:embeddedFont>
      <p:font typeface="Lexend Medium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AFA08-039A-4E8B-9966-27CA87310E8B}">
  <a:tblStyle styleId="{541AFA08-039A-4E8B-9966-27CA87310E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d6a09c8c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d6a09c8c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003bd6ff0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003bd6ff0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d6a3cd83e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d6a3cd83e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0AA6B8E6-9868-8B9E-F8D8-1B0A6057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d6a3cd83ef_0_23:notes">
            <a:extLst>
              <a:ext uri="{FF2B5EF4-FFF2-40B4-BE49-F238E27FC236}">
                <a16:creationId xmlns:a16="http://schemas.microsoft.com/office/drawing/2014/main" id="{AA373CB2-92F7-58B8-4FB8-45904EEF4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d6a3cd83ef_0_23:notes">
            <a:extLst>
              <a:ext uri="{FF2B5EF4-FFF2-40B4-BE49-F238E27FC236}">
                <a16:creationId xmlns:a16="http://schemas.microsoft.com/office/drawing/2014/main" id="{CCCC2202-EA51-CBA5-027C-43CF9BDB7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992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003bd6ff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003bd6ff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d6a3cd83e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d6a3cd83e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>
          <a:extLst>
            <a:ext uri="{FF2B5EF4-FFF2-40B4-BE49-F238E27FC236}">
              <a16:creationId xmlns:a16="http://schemas.microsoft.com/office/drawing/2014/main" id="{0FC66DC4-C044-7A30-BF96-13155BC2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003bd6ff09_0_0:notes">
            <a:extLst>
              <a:ext uri="{FF2B5EF4-FFF2-40B4-BE49-F238E27FC236}">
                <a16:creationId xmlns:a16="http://schemas.microsoft.com/office/drawing/2014/main" id="{A118A311-625D-61D6-8D09-66BB330AE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003bd6ff09_0_0:notes">
            <a:extLst>
              <a:ext uri="{FF2B5EF4-FFF2-40B4-BE49-F238E27FC236}">
                <a16:creationId xmlns:a16="http://schemas.microsoft.com/office/drawing/2014/main" id="{E0A2B157-A449-649F-BA7C-1B313CF45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9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97FB6407-A174-DC02-7231-575F857B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d6a3cd83ef_0_67:notes">
            <a:extLst>
              <a:ext uri="{FF2B5EF4-FFF2-40B4-BE49-F238E27FC236}">
                <a16:creationId xmlns:a16="http://schemas.microsoft.com/office/drawing/2014/main" id="{A9238DF8-7005-1FD8-B3C9-46DADB1F5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d6a3cd83ef_0_67:notes">
            <a:extLst>
              <a:ext uri="{FF2B5EF4-FFF2-40B4-BE49-F238E27FC236}">
                <a16:creationId xmlns:a16="http://schemas.microsoft.com/office/drawing/2014/main" id="{F5898CF7-3697-8A57-1E09-98A635812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2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BC4771BE-F1FE-61E7-0608-60E41BA8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d6a3cd83ef_0_67:notes">
            <a:extLst>
              <a:ext uri="{FF2B5EF4-FFF2-40B4-BE49-F238E27FC236}">
                <a16:creationId xmlns:a16="http://schemas.microsoft.com/office/drawing/2014/main" id="{95E6F16F-D153-C889-5D55-9C5BFBF24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d6a3cd83ef_0_67:notes">
            <a:extLst>
              <a:ext uri="{FF2B5EF4-FFF2-40B4-BE49-F238E27FC236}">
                <a16:creationId xmlns:a16="http://schemas.microsoft.com/office/drawing/2014/main" id="{6F4C163B-6849-060F-76D9-AF20290C1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847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>
          <a:extLst>
            <a:ext uri="{FF2B5EF4-FFF2-40B4-BE49-F238E27FC236}">
              <a16:creationId xmlns:a16="http://schemas.microsoft.com/office/drawing/2014/main" id="{0536E173-908D-B086-A8CB-CE1E2217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003bd6ff09_0_0:notes">
            <a:extLst>
              <a:ext uri="{FF2B5EF4-FFF2-40B4-BE49-F238E27FC236}">
                <a16:creationId xmlns:a16="http://schemas.microsoft.com/office/drawing/2014/main" id="{C90D81F3-8146-B6C9-48E1-7D162AF6E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003bd6ff09_0_0:notes">
            <a:extLst>
              <a:ext uri="{FF2B5EF4-FFF2-40B4-BE49-F238E27FC236}">
                <a16:creationId xmlns:a16="http://schemas.microsoft.com/office/drawing/2014/main" id="{95DF5184-86B8-AFF5-28B4-AABB79C11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771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86244223-4A9B-D8C3-584A-DB3025B0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d6a3cd83ef_0_67:notes">
            <a:extLst>
              <a:ext uri="{FF2B5EF4-FFF2-40B4-BE49-F238E27FC236}">
                <a16:creationId xmlns:a16="http://schemas.microsoft.com/office/drawing/2014/main" id="{2F079D1F-9EDF-8A96-A432-262DEDF48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d6a3cd83ef_0_67:notes">
            <a:extLst>
              <a:ext uri="{FF2B5EF4-FFF2-40B4-BE49-F238E27FC236}">
                <a16:creationId xmlns:a16="http://schemas.microsoft.com/office/drawing/2014/main" id="{D488C5EA-67A0-6B9B-FFA5-002FD128A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23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>
          <a:extLst>
            <a:ext uri="{FF2B5EF4-FFF2-40B4-BE49-F238E27FC236}">
              <a16:creationId xmlns:a16="http://schemas.microsoft.com/office/drawing/2014/main" id="{183A883E-A6BB-A399-01A4-83D1CD77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003bd6ff09_0_0:notes">
            <a:extLst>
              <a:ext uri="{FF2B5EF4-FFF2-40B4-BE49-F238E27FC236}">
                <a16:creationId xmlns:a16="http://schemas.microsoft.com/office/drawing/2014/main" id="{64156823-067A-8416-E0F9-AB3C1F5A5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003bd6ff09_0_0:notes">
            <a:extLst>
              <a:ext uri="{FF2B5EF4-FFF2-40B4-BE49-F238E27FC236}">
                <a16:creationId xmlns:a16="http://schemas.microsoft.com/office/drawing/2014/main" id="{33D56779-D182-2AD3-7414-1AA5746EB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586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8810DC26-05C7-D0BC-EA57-CAD1AB56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d6a3cd83ef_0_67:notes">
            <a:extLst>
              <a:ext uri="{FF2B5EF4-FFF2-40B4-BE49-F238E27FC236}">
                <a16:creationId xmlns:a16="http://schemas.microsoft.com/office/drawing/2014/main" id="{807D85B8-C0DE-4B11-AD2A-270E4A42A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d6a3cd83ef_0_67:notes">
            <a:extLst>
              <a:ext uri="{FF2B5EF4-FFF2-40B4-BE49-F238E27FC236}">
                <a16:creationId xmlns:a16="http://schemas.microsoft.com/office/drawing/2014/main" id="{835DFEED-0A89-6C3B-664E-B98BDE8DB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813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21050" y="1238925"/>
            <a:ext cx="4829700" cy="23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07150" y="3668325"/>
            <a:ext cx="4057500" cy="4410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634298"/>
            <a:ext cx="9144000" cy="939717"/>
            <a:chOff x="0" y="4634298"/>
            <a:chExt cx="9144000" cy="939717"/>
          </a:xfrm>
        </p:grpSpPr>
        <p:sp>
          <p:nvSpPr>
            <p:cNvPr id="12" name="Google Shape;12;p2"/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/>
          <p:nvPr/>
        </p:nvSpPr>
        <p:spPr>
          <a:xfrm rot="-3091724">
            <a:off x="4301096" y="-1602519"/>
            <a:ext cx="1736958" cy="9210289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rot="-1696678">
            <a:off x="967285" y="536191"/>
            <a:ext cx="1736994" cy="6153884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-2700000">
            <a:off x="2617151" y="-1158264"/>
            <a:ext cx="1736937" cy="9210349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rot="-3779012">
            <a:off x="5622143" y="-2364247"/>
            <a:ext cx="1736942" cy="9210125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021300" y="1832113"/>
            <a:ext cx="32502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5021300" y="584963"/>
            <a:ext cx="15915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5021300" y="2997363"/>
            <a:ext cx="3250200" cy="63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21100" y="1139775"/>
            <a:ext cx="45036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1"/>
          </p:nvPr>
        </p:nvSpPr>
        <p:spPr>
          <a:xfrm>
            <a:off x="621100" y="2019300"/>
            <a:ext cx="45036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9"/>
          <p:cNvSpPr/>
          <p:nvPr/>
        </p:nvSpPr>
        <p:spPr>
          <a:xfrm rot="3091724" flipH="1">
            <a:off x="3094418" y="-1375869"/>
            <a:ext cx="1736958" cy="9210289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1696678" flipH="1">
            <a:off x="6428194" y="762841"/>
            <a:ext cx="1736994" cy="6153884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"/>
          <p:cNvSpPr/>
          <p:nvPr/>
        </p:nvSpPr>
        <p:spPr>
          <a:xfrm rot="2700000" flipH="1">
            <a:off x="4778384" y="-931614"/>
            <a:ext cx="1736937" cy="9210349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9"/>
          <p:cNvSpPr/>
          <p:nvPr/>
        </p:nvSpPr>
        <p:spPr>
          <a:xfrm rot="3779012" flipH="1">
            <a:off x="1773387" y="-2137597"/>
            <a:ext cx="1736942" cy="9210125"/>
          </a:xfrm>
          <a:prstGeom prst="trapezoid">
            <a:avLst>
              <a:gd name="adj" fmla="val 41968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58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9"/>
          <p:cNvGrpSpPr/>
          <p:nvPr/>
        </p:nvGrpSpPr>
        <p:grpSpPr>
          <a:xfrm>
            <a:off x="0" y="4452248"/>
            <a:ext cx="9144000" cy="1121834"/>
            <a:chOff x="0" y="4634298"/>
            <a:chExt cx="9144000" cy="939717"/>
          </a:xfrm>
        </p:grpSpPr>
        <p:sp>
          <p:nvSpPr>
            <p:cNvPr id="103" name="Google Shape;103;p9"/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title"/>
          </p:nvPr>
        </p:nvSpPr>
        <p:spPr>
          <a:xfrm>
            <a:off x="621100" y="457625"/>
            <a:ext cx="7901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"/>
          </p:nvPr>
        </p:nvSpPr>
        <p:spPr>
          <a:xfrm>
            <a:off x="5737080" y="1695950"/>
            <a:ext cx="2531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000">
                <a:latin typeface="Koulen"/>
                <a:ea typeface="Koulen"/>
                <a:cs typeface="Koulen"/>
                <a:sym typeface="Koule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2"/>
          </p:nvPr>
        </p:nvSpPr>
        <p:spPr>
          <a:xfrm>
            <a:off x="5737063" y="209420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3"/>
          </p:nvPr>
        </p:nvSpPr>
        <p:spPr>
          <a:xfrm>
            <a:off x="1914725" y="1695950"/>
            <a:ext cx="2531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000">
                <a:latin typeface="Koulen"/>
                <a:ea typeface="Koulen"/>
                <a:cs typeface="Koulen"/>
                <a:sym typeface="Koule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4"/>
          </p:nvPr>
        </p:nvSpPr>
        <p:spPr>
          <a:xfrm>
            <a:off x="1914713" y="209420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5"/>
          </p:nvPr>
        </p:nvSpPr>
        <p:spPr>
          <a:xfrm>
            <a:off x="5737080" y="3064025"/>
            <a:ext cx="2531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000">
                <a:latin typeface="Koulen"/>
                <a:ea typeface="Koulen"/>
                <a:cs typeface="Koulen"/>
                <a:sym typeface="Koule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6"/>
          </p:nvPr>
        </p:nvSpPr>
        <p:spPr>
          <a:xfrm>
            <a:off x="5737063" y="346232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7"/>
          </p:nvPr>
        </p:nvSpPr>
        <p:spPr>
          <a:xfrm>
            <a:off x="1914725" y="3064025"/>
            <a:ext cx="2531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000">
                <a:latin typeface="Koulen"/>
                <a:ea typeface="Koulen"/>
                <a:cs typeface="Koulen"/>
                <a:sym typeface="Koule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8"/>
          </p:nvPr>
        </p:nvSpPr>
        <p:spPr>
          <a:xfrm>
            <a:off x="1914713" y="346232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9" hasCustomPrompt="1"/>
          </p:nvPr>
        </p:nvSpPr>
        <p:spPr>
          <a:xfrm>
            <a:off x="875513" y="1614350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13" hasCustomPrompt="1"/>
          </p:nvPr>
        </p:nvSpPr>
        <p:spPr>
          <a:xfrm>
            <a:off x="4697863" y="1614350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14" hasCustomPrompt="1"/>
          </p:nvPr>
        </p:nvSpPr>
        <p:spPr>
          <a:xfrm>
            <a:off x="875513" y="2982425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697863" y="2982436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4634298"/>
            <a:ext cx="9144000" cy="939717"/>
            <a:chOff x="0" y="4634298"/>
            <a:chExt cx="9144000" cy="939717"/>
          </a:xfrm>
        </p:grpSpPr>
        <p:sp>
          <p:nvSpPr>
            <p:cNvPr id="131" name="Google Shape;131;p13"/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1">
  <p:cSld name="CUSTOM_4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 txBox="1">
            <a:spLocks noGrp="1"/>
          </p:cNvSpPr>
          <p:nvPr>
            <p:ph type="title"/>
          </p:nvPr>
        </p:nvSpPr>
        <p:spPr>
          <a:xfrm>
            <a:off x="621100" y="457625"/>
            <a:ext cx="7901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1"/>
          </p:nvPr>
        </p:nvSpPr>
        <p:spPr>
          <a:xfrm>
            <a:off x="4617187" y="1630272"/>
            <a:ext cx="3804900" cy="25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subTitle" idx="2"/>
          </p:nvPr>
        </p:nvSpPr>
        <p:spPr>
          <a:xfrm>
            <a:off x="721925" y="1630225"/>
            <a:ext cx="3804900" cy="25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4" name="Google Shape;294;p22"/>
          <p:cNvGrpSpPr/>
          <p:nvPr/>
        </p:nvGrpSpPr>
        <p:grpSpPr>
          <a:xfrm>
            <a:off x="0" y="4634298"/>
            <a:ext cx="9144000" cy="939717"/>
            <a:chOff x="0" y="4634298"/>
            <a:chExt cx="9144000" cy="939717"/>
          </a:xfrm>
        </p:grpSpPr>
        <p:sp>
          <p:nvSpPr>
            <p:cNvPr id="295" name="Google Shape;295;p22"/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1100" y="457625"/>
            <a:ext cx="79017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oulen"/>
              <a:buNone/>
              <a:defRPr sz="4000">
                <a:solidFill>
                  <a:schemeClr val="accent5"/>
                </a:solidFill>
                <a:latin typeface="Koulen"/>
                <a:ea typeface="Koulen"/>
                <a:cs typeface="Koulen"/>
                <a:sym typeface="Koule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1100" y="1152475"/>
            <a:ext cx="790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●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○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■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●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○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■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●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○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Lexend Medium"/>
              <a:buChar char="■"/>
              <a:defRPr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34"/>
          <p:cNvGrpSpPr/>
          <p:nvPr/>
        </p:nvGrpSpPr>
        <p:grpSpPr>
          <a:xfrm>
            <a:off x="2189774" y="-268781"/>
            <a:ext cx="6940812" cy="2860814"/>
            <a:chOff x="2189774" y="-268781"/>
            <a:chExt cx="6940812" cy="2860814"/>
          </a:xfrm>
        </p:grpSpPr>
        <p:pic>
          <p:nvPicPr>
            <p:cNvPr id="468" name="Google Shape;46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685030" y="348261"/>
              <a:ext cx="220258" cy="227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6005499" y="1340746"/>
              <a:ext cx="378925" cy="3677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551286" y="-6"/>
              <a:ext cx="579299" cy="535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34444" y="364142"/>
              <a:ext cx="838460" cy="369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3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463605" y="1090475"/>
              <a:ext cx="485925" cy="367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3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390260" y="1176257"/>
              <a:ext cx="723956" cy="4757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3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flipH="1">
              <a:off x="8013298" y="819618"/>
              <a:ext cx="302444" cy="270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3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flipH="1">
              <a:off x="7055710" y="-91924"/>
              <a:ext cx="723954" cy="440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3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 flipH="1">
              <a:off x="7534451" y="1752866"/>
              <a:ext cx="102902" cy="135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34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 flipH="1">
              <a:off x="8432541" y="309072"/>
              <a:ext cx="59073" cy="800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3412593" flipH="1">
              <a:off x="8596458" y="1564279"/>
              <a:ext cx="220257" cy="227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412598" flipH="1">
              <a:off x="8272644" y="2148986"/>
              <a:ext cx="378925" cy="3677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5067637" y="-220969"/>
              <a:ext cx="579299" cy="535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971976" flipH="1">
              <a:off x="8042867" y="707112"/>
              <a:ext cx="838460" cy="369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3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3412599" flipH="1">
              <a:off x="6791576" y="472961"/>
              <a:ext cx="485926" cy="367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3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-3412601" flipH="1">
              <a:off x="5775625" y="-73519"/>
              <a:ext cx="723957" cy="4757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3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-3412598" flipH="1">
              <a:off x="6808216" y="1523484"/>
              <a:ext cx="302444" cy="270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3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1424746" flipH="1">
              <a:off x="5317223" y="516236"/>
              <a:ext cx="723954" cy="440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p3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 rot="-3412599" flipH="1">
              <a:off x="7315146" y="2016809"/>
              <a:ext cx="102902" cy="135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34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 rot="-3412599" flipH="1">
              <a:off x="6309627" y="770920"/>
              <a:ext cx="59073" cy="800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3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7092340" flipH="1">
              <a:off x="4231275" y="193556"/>
              <a:ext cx="723957" cy="4757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412527" flipH="1">
              <a:off x="2252725" y="804569"/>
              <a:ext cx="392697" cy="3629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2792844" y="276979"/>
              <a:ext cx="838460" cy="369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34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 rot="-3412599" flipH="1">
              <a:off x="3490502" y="910945"/>
              <a:ext cx="59073" cy="800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3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3412599" flipH="1">
              <a:off x="3932051" y="-55726"/>
              <a:ext cx="485926" cy="367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3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3412599" flipH="1">
              <a:off x="5281726" y="1295474"/>
              <a:ext cx="485926" cy="367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3412593" flipH="1">
              <a:off x="6429583" y="985591"/>
              <a:ext cx="220257" cy="227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3412593" flipH="1">
              <a:off x="4677470" y="985591"/>
              <a:ext cx="220257" cy="227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3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flipH="1">
              <a:off x="5646923" y="1965726"/>
              <a:ext cx="723954" cy="4401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7" name="Google Shape;497;p34"/>
          <p:cNvSpPr txBox="1">
            <a:spLocks noGrp="1"/>
          </p:cNvSpPr>
          <p:nvPr>
            <p:ph type="ctrTitle"/>
          </p:nvPr>
        </p:nvSpPr>
        <p:spPr>
          <a:xfrm>
            <a:off x="480541" y="965361"/>
            <a:ext cx="4829700" cy="18675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Football </a:t>
            </a:r>
            <a:r>
              <a:rPr lang="en" sz="6000" dirty="0">
                <a:solidFill>
                  <a:schemeClr val="accent3"/>
                </a:solidFill>
              </a:rPr>
              <a:t>Global Cup 2018</a:t>
            </a:r>
            <a:r>
              <a:rPr lang="en" sz="6000" dirty="0"/>
              <a:t> </a:t>
            </a:r>
            <a:endParaRPr sz="6000" dirty="0"/>
          </a:p>
        </p:txBody>
      </p:sp>
      <p:sp>
        <p:nvSpPr>
          <p:cNvPr id="498" name="Google Shape;498;p34"/>
          <p:cNvSpPr txBox="1">
            <a:spLocks noGrp="1"/>
          </p:cNvSpPr>
          <p:nvPr>
            <p:ph type="subTitle" idx="1"/>
          </p:nvPr>
        </p:nvSpPr>
        <p:spPr>
          <a:xfrm>
            <a:off x="764094" y="3188617"/>
            <a:ext cx="4057500" cy="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Du Chaos des Données à la Clarté Visuelle</a:t>
            </a:r>
          </a:p>
        </p:txBody>
      </p:sp>
      <p:pic>
        <p:nvPicPr>
          <p:cNvPr id="499" name="Google Shape;499;p3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89350" y="957374"/>
            <a:ext cx="2999776" cy="387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352896" y="2838838"/>
            <a:ext cx="2098480" cy="20999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34"/>
          <p:cNvGrpSpPr/>
          <p:nvPr/>
        </p:nvGrpSpPr>
        <p:grpSpPr>
          <a:xfrm rot="-2906426" flipH="1">
            <a:off x="-278905" y="-358129"/>
            <a:ext cx="2216376" cy="1487895"/>
            <a:chOff x="7132236" y="-241819"/>
            <a:chExt cx="2327961" cy="1562681"/>
          </a:xfrm>
        </p:grpSpPr>
        <p:sp>
          <p:nvSpPr>
            <p:cNvPr id="502" name="Google Shape;502;p34"/>
            <p:cNvSpPr/>
            <p:nvPr/>
          </p:nvSpPr>
          <p:spPr>
            <a:xfrm rot="-1170440">
              <a:off x="7173529" y="374615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 rot="-1170440">
              <a:off x="7927783" y="107622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 rot="-1170440">
              <a:off x="8682037" y="-159371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 rot="-1170440">
              <a:off x="7357881" y="895410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 rot="-1170440">
              <a:off x="8112136" y="628417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 rot="-1170440">
              <a:off x="8866390" y="361423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 txBox="1">
            <a:spLocks noGrp="1"/>
          </p:cNvSpPr>
          <p:nvPr>
            <p:ph type="title"/>
          </p:nvPr>
        </p:nvSpPr>
        <p:spPr>
          <a:xfrm>
            <a:off x="1073426" y="315950"/>
            <a:ext cx="719504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 DE PRESENTATION</a:t>
            </a:r>
            <a:endParaRPr dirty="0"/>
          </a:p>
        </p:txBody>
      </p:sp>
      <p:sp>
        <p:nvSpPr>
          <p:cNvPr id="522" name="Google Shape;522;p36"/>
          <p:cNvSpPr txBox="1">
            <a:spLocks noGrp="1"/>
          </p:cNvSpPr>
          <p:nvPr>
            <p:ph type="subTitle" idx="3"/>
          </p:nvPr>
        </p:nvSpPr>
        <p:spPr>
          <a:xfrm>
            <a:off x="1795459" y="1487405"/>
            <a:ext cx="2471741" cy="9183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2400" dirty="0"/>
              <a:t>Contexte et objectif</a:t>
            </a:r>
          </a:p>
        </p:txBody>
      </p:sp>
      <p:sp>
        <p:nvSpPr>
          <p:cNvPr id="530" name="Google Shape;530;p36"/>
          <p:cNvSpPr txBox="1">
            <a:spLocks noGrp="1"/>
          </p:cNvSpPr>
          <p:nvPr>
            <p:ph type="title" idx="9"/>
          </p:nvPr>
        </p:nvSpPr>
        <p:spPr>
          <a:xfrm>
            <a:off x="875516" y="1614350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31" name="Google Shape;531;p36"/>
          <p:cNvSpPr txBox="1">
            <a:spLocks noGrp="1"/>
          </p:cNvSpPr>
          <p:nvPr>
            <p:ph type="title" idx="13"/>
          </p:nvPr>
        </p:nvSpPr>
        <p:spPr>
          <a:xfrm>
            <a:off x="4697866" y="1614350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32" name="Google Shape;532;p36"/>
          <p:cNvSpPr txBox="1">
            <a:spLocks noGrp="1"/>
          </p:cNvSpPr>
          <p:nvPr>
            <p:ph type="title" idx="14"/>
          </p:nvPr>
        </p:nvSpPr>
        <p:spPr>
          <a:xfrm>
            <a:off x="875516" y="3067895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33" name="Google Shape;533;p36"/>
          <p:cNvSpPr txBox="1">
            <a:spLocks noGrp="1"/>
          </p:cNvSpPr>
          <p:nvPr>
            <p:ph type="title" idx="15"/>
          </p:nvPr>
        </p:nvSpPr>
        <p:spPr>
          <a:xfrm>
            <a:off x="4697866" y="3101705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C62C6A3-9C67-63C9-5A71-E27AD3F361E4}"/>
              </a:ext>
            </a:extLst>
          </p:cNvPr>
          <p:cNvSpPr txBox="1"/>
          <p:nvPr/>
        </p:nvSpPr>
        <p:spPr>
          <a:xfrm>
            <a:off x="1867152" y="2737706"/>
            <a:ext cx="1975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5"/>
                </a:solidFill>
                <a:latin typeface="Koulen"/>
                <a:cs typeface="Koulen"/>
                <a:sym typeface="Koulen"/>
              </a:rPr>
              <a:t>ANALYSE ET VISUALISATION (POWER BI)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B53B360-4B00-0EBB-EE21-2D07106CB07D}"/>
              </a:ext>
            </a:extLst>
          </p:cNvPr>
          <p:cNvSpPr txBox="1"/>
          <p:nvPr/>
        </p:nvSpPr>
        <p:spPr>
          <a:xfrm>
            <a:off x="5783168" y="2982425"/>
            <a:ext cx="2174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5"/>
                </a:solidFill>
                <a:latin typeface="Koulen"/>
                <a:cs typeface="Koulen"/>
                <a:sym typeface="Koulen"/>
              </a:rPr>
              <a:t>RESULTATS ET VALEUR AJOUTEE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F5666BD-F3A6-3AF2-BDEC-E6410B097F2D}"/>
              </a:ext>
            </a:extLst>
          </p:cNvPr>
          <p:cNvSpPr txBox="1"/>
          <p:nvPr/>
        </p:nvSpPr>
        <p:spPr>
          <a:xfrm>
            <a:off x="5882561" y="1423897"/>
            <a:ext cx="1975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5"/>
                </a:solidFill>
                <a:latin typeface="Koulen"/>
                <a:cs typeface="Koulen"/>
                <a:sym typeface="Koulen"/>
              </a:rPr>
              <a:t>PRETRAITEMENT ET PREPARATION DES DONNEES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8"/>
          <p:cNvSpPr txBox="1">
            <a:spLocks noGrp="1"/>
          </p:cNvSpPr>
          <p:nvPr>
            <p:ph type="title"/>
          </p:nvPr>
        </p:nvSpPr>
        <p:spPr>
          <a:xfrm>
            <a:off x="836250" y="101108"/>
            <a:ext cx="45036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82" name="Google Shape;582;p38"/>
          <p:cNvSpPr txBox="1">
            <a:spLocks noGrp="1"/>
          </p:cNvSpPr>
          <p:nvPr>
            <p:ph type="subTitle" idx="1"/>
          </p:nvPr>
        </p:nvSpPr>
        <p:spPr>
          <a:xfrm>
            <a:off x="186592" y="751008"/>
            <a:ext cx="5802916" cy="36089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"La Coupe du Monde 2018 s’est déroulée en Russie, accueillant la 21e édition de ce tournoi emblématique qui passionne le monde entier depuis 1930.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32 équipes, venues des cinq continents, ont pris part à la compétition, réunissant un total de 736 joueurs prêts à marquer l’histoire.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pic>
        <p:nvPicPr>
          <p:cNvPr id="583" name="Google Shape;5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016" y="1898763"/>
            <a:ext cx="2788900" cy="27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781" y="3230952"/>
            <a:ext cx="1707549" cy="1708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5" name="Google Shape;585;p38"/>
          <p:cNvGrpSpPr/>
          <p:nvPr/>
        </p:nvGrpSpPr>
        <p:grpSpPr>
          <a:xfrm rot="2906426">
            <a:off x="7195001" y="-131479"/>
            <a:ext cx="2216376" cy="1487895"/>
            <a:chOff x="7132236" y="-241819"/>
            <a:chExt cx="2327961" cy="1562681"/>
          </a:xfrm>
        </p:grpSpPr>
        <p:sp>
          <p:nvSpPr>
            <p:cNvPr id="586" name="Google Shape;586;p38"/>
            <p:cNvSpPr/>
            <p:nvPr/>
          </p:nvSpPr>
          <p:spPr>
            <a:xfrm rot="-1170440">
              <a:off x="7173529" y="374615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 rot="-1170440">
              <a:off x="7927783" y="107622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 rot="-1170440">
              <a:off x="8682037" y="-159371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8"/>
            <p:cNvSpPr/>
            <p:nvPr/>
          </p:nvSpPr>
          <p:spPr>
            <a:xfrm rot="-1170440">
              <a:off x="7357881" y="895410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 rot="-1170440">
              <a:off x="8112136" y="628417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 rot="-1170440">
              <a:off x="8866390" y="361423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5215B6B8-5D4A-8335-F65F-C6DF8A36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8">
            <a:extLst>
              <a:ext uri="{FF2B5EF4-FFF2-40B4-BE49-F238E27FC236}">
                <a16:creationId xmlns:a16="http://schemas.microsoft.com/office/drawing/2014/main" id="{19D8EBEA-233C-8DDD-E70C-70CCE710D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6250" y="101108"/>
            <a:ext cx="45036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82" name="Google Shape;582;p38">
            <a:extLst>
              <a:ext uri="{FF2B5EF4-FFF2-40B4-BE49-F238E27FC236}">
                <a16:creationId xmlns:a16="http://schemas.microsoft.com/office/drawing/2014/main" id="{05A5244F-2B66-1BA9-A63E-8CD1DF5A6F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6592" y="751008"/>
            <a:ext cx="5802916" cy="24799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Quatre ans plus tôt, en 2014 au Brésil, l’Allemagne avait soulevé le trophée, avant de céder sa couronne à la France, victorieuse en 2018.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Notre objectif ? Transformer cette masse de données brutes en une analyse visuelle claire et percutante, grâce à un pipeline moderne de gestion et de visualisation.</a:t>
            </a:r>
            <a:endParaRPr dirty="0"/>
          </a:p>
        </p:txBody>
      </p:sp>
      <p:pic>
        <p:nvPicPr>
          <p:cNvPr id="583" name="Google Shape;583;p38">
            <a:extLst>
              <a:ext uri="{FF2B5EF4-FFF2-40B4-BE49-F238E27FC236}">
                <a16:creationId xmlns:a16="http://schemas.microsoft.com/office/drawing/2014/main" id="{D5408B15-2136-DE0B-0EAA-230A1CA88C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016" y="1898763"/>
            <a:ext cx="2788900" cy="27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8">
            <a:extLst>
              <a:ext uri="{FF2B5EF4-FFF2-40B4-BE49-F238E27FC236}">
                <a16:creationId xmlns:a16="http://schemas.microsoft.com/office/drawing/2014/main" id="{72334003-15C6-C29C-8514-54D5A8062C9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781" y="3230952"/>
            <a:ext cx="1707549" cy="1708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5" name="Google Shape;585;p38">
            <a:extLst>
              <a:ext uri="{FF2B5EF4-FFF2-40B4-BE49-F238E27FC236}">
                <a16:creationId xmlns:a16="http://schemas.microsoft.com/office/drawing/2014/main" id="{1884D175-50CA-AB64-C40C-ECC36188C8F5}"/>
              </a:ext>
            </a:extLst>
          </p:cNvPr>
          <p:cNvGrpSpPr/>
          <p:nvPr/>
        </p:nvGrpSpPr>
        <p:grpSpPr>
          <a:xfrm rot="2906426">
            <a:off x="7195001" y="-131479"/>
            <a:ext cx="2216376" cy="1487895"/>
            <a:chOff x="7132236" y="-241819"/>
            <a:chExt cx="2327961" cy="1562681"/>
          </a:xfrm>
        </p:grpSpPr>
        <p:sp>
          <p:nvSpPr>
            <p:cNvPr id="586" name="Google Shape;586;p38">
              <a:extLst>
                <a:ext uri="{FF2B5EF4-FFF2-40B4-BE49-F238E27FC236}">
                  <a16:creationId xmlns:a16="http://schemas.microsoft.com/office/drawing/2014/main" id="{A3B96FF0-CA0F-B143-3E1C-DE264C3E5662}"/>
                </a:ext>
              </a:extLst>
            </p:cNvPr>
            <p:cNvSpPr/>
            <p:nvPr/>
          </p:nvSpPr>
          <p:spPr>
            <a:xfrm rot="-1170440">
              <a:off x="7173529" y="374615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8">
              <a:extLst>
                <a:ext uri="{FF2B5EF4-FFF2-40B4-BE49-F238E27FC236}">
                  <a16:creationId xmlns:a16="http://schemas.microsoft.com/office/drawing/2014/main" id="{7714D218-E9F7-4945-24D9-631753F8B784}"/>
                </a:ext>
              </a:extLst>
            </p:cNvPr>
            <p:cNvSpPr/>
            <p:nvPr/>
          </p:nvSpPr>
          <p:spPr>
            <a:xfrm rot="-1170440">
              <a:off x="7927783" y="107622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8">
              <a:extLst>
                <a:ext uri="{FF2B5EF4-FFF2-40B4-BE49-F238E27FC236}">
                  <a16:creationId xmlns:a16="http://schemas.microsoft.com/office/drawing/2014/main" id="{BAFAFDA7-65CA-A35B-4D81-DD717BCEA1BB}"/>
                </a:ext>
              </a:extLst>
            </p:cNvPr>
            <p:cNvSpPr/>
            <p:nvPr/>
          </p:nvSpPr>
          <p:spPr>
            <a:xfrm rot="-1170440">
              <a:off x="8682037" y="-159371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8">
              <a:extLst>
                <a:ext uri="{FF2B5EF4-FFF2-40B4-BE49-F238E27FC236}">
                  <a16:creationId xmlns:a16="http://schemas.microsoft.com/office/drawing/2014/main" id="{C7008AAB-5582-46B8-0818-9FE30C2B2E8F}"/>
                </a:ext>
              </a:extLst>
            </p:cNvPr>
            <p:cNvSpPr/>
            <p:nvPr/>
          </p:nvSpPr>
          <p:spPr>
            <a:xfrm rot="-1170440">
              <a:off x="7357881" y="895410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8">
              <a:extLst>
                <a:ext uri="{FF2B5EF4-FFF2-40B4-BE49-F238E27FC236}">
                  <a16:creationId xmlns:a16="http://schemas.microsoft.com/office/drawing/2014/main" id="{067E4AF1-171B-06CA-28E9-CFBCE352B070}"/>
                </a:ext>
              </a:extLst>
            </p:cNvPr>
            <p:cNvSpPr/>
            <p:nvPr/>
          </p:nvSpPr>
          <p:spPr>
            <a:xfrm rot="-1170440">
              <a:off x="8112136" y="628417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8">
              <a:extLst>
                <a:ext uri="{FF2B5EF4-FFF2-40B4-BE49-F238E27FC236}">
                  <a16:creationId xmlns:a16="http://schemas.microsoft.com/office/drawing/2014/main" id="{89EFF360-1B2F-25B8-D801-03273246692C}"/>
                </a:ext>
              </a:extLst>
            </p:cNvPr>
            <p:cNvSpPr/>
            <p:nvPr/>
          </p:nvSpPr>
          <p:spPr>
            <a:xfrm rot="-1170440">
              <a:off x="8866390" y="361423"/>
              <a:ext cx="552515" cy="3430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485775" dist="104775" dir="5400000" algn="bl" rotWithShape="0">
                <a:schemeClr val="accent5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9403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"/>
          <p:cNvSpPr txBox="1">
            <a:spLocks noGrp="1"/>
          </p:cNvSpPr>
          <p:nvPr>
            <p:ph type="title"/>
          </p:nvPr>
        </p:nvSpPr>
        <p:spPr>
          <a:xfrm>
            <a:off x="5021300" y="1832112"/>
            <a:ext cx="3250200" cy="1149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CONTEXTE ET JUSTIFICATIF</a:t>
            </a:r>
            <a:endParaRPr sz="3600" dirty="0"/>
          </a:p>
        </p:txBody>
      </p:sp>
      <p:sp>
        <p:nvSpPr>
          <p:cNvPr id="597" name="Google Shape;597;p39"/>
          <p:cNvSpPr txBox="1">
            <a:spLocks noGrp="1"/>
          </p:cNvSpPr>
          <p:nvPr>
            <p:ph type="title" idx="2"/>
          </p:nvPr>
        </p:nvSpPr>
        <p:spPr>
          <a:xfrm>
            <a:off x="5021300" y="584963"/>
            <a:ext cx="15915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599" name="Google Shape;599;p39"/>
          <p:cNvGrpSpPr/>
          <p:nvPr/>
        </p:nvGrpSpPr>
        <p:grpSpPr>
          <a:xfrm>
            <a:off x="0" y="4049475"/>
            <a:ext cx="9144000" cy="1524785"/>
            <a:chOff x="0" y="4634298"/>
            <a:chExt cx="9144000" cy="939717"/>
          </a:xfrm>
        </p:grpSpPr>
        <p:sp>
          <p:nvSpPr>
            <p:cNvPr id="600" name="Google Shape;600;p39"/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7" name="Google Shape;6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01" y="649811"/>
            <a:ext cx="220258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89" y="-19529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8647" y="389119"/>
            <a:ext cx="579299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60" y="36414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4167" y="1090475"/>
            <a:ext cx="485925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147" y="1176257"/>
            <a:ext cx="723956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622" y="819618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5700" y="-91924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85361" y="1288679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3749" y="309072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2593">
            <a:off x="38649" y="1564279"/>
            <a:ext cx="220257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12598">
            <a:off x="809232" y="1813073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412599">
            <a:off x="-140861" y="1951556"/>
            <a:ext cx="579300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71976">
            <a:off x="271624" y="109726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412599">
            <a:off x="1364724" y="927899"/>
            <a:ext cx="485926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412601">
            <a:off x="1941682" y="252581"/>
            <a:ext cx="723957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3412598">
            <a:off x="2020091" y="1255834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412599">
            <a:off x="2733011" y="891699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3412599">
            <a:off x="2008578" y="2418884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3412599">
            <a:off x="2486664" y="770920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94176" y="245288"/>
            <a:ext cx="504555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0"/>
          <p:cNvSpPr txBox="1">
            <a:spLocks noGrp="1"/>
          </p:cNvSpPr>
          <p:nvPr>
            <p:ph type="title"/>
          </p:nvPr>
        </p:nvSpPr>
        <p:spPr>
          <a:xfrm>
            <a:off x="1265584" y="457625"/>
            <a:ext cx="6109252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01 CONTEXTE ET JUSTIFICATIF</a:t>
            </a:r>
          </a:p>
        </p:txBody>
      </p:sp>
      <p:sp>
        <p:nvSpPr>
          <p:cNvPr id="634" name="Google Shape;634;p40"/>
          <p:cNvSpPr txBox="1">
            <a:spLocks noGrp="1"/>
          </p:cNvSpPr>
          <p:nvPr>
            <p:ph type="subTitle" idx="2"/>
          </p:nvPr>
        </p:nvSpPr>
        <p:spPr>
          <a:xfrm>
            <a:off x="721925" y="1418190"/>
            <a:ext cx="7421536" cy="2477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La Coupe du Monde 2018 : 32 équipes, 736 joueurs, une mine de données à exploiter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Objectif : Transformer une base de données brute en une analyse visuelle interactive pour comprendre les performances des joueurs et des équipes.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Approche : Data Warehouse avec Talend, stockage MySQL, visualisation Power BI.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>
          <a:extLst>
            <a:ext uri="{FF2B5EF4-FFF2-40B4-BE49-F238E27FC236}">
              <a16:creationId xmlns:a16="http://schemas.microsoft.com/office/drawing/2014/main" id="{3580DD80-EA2A-0FE5-7591-45D545E4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">
            <a:extLst>
              <a:ext uri="{FF2B5EF4-FFF2-40B4-BE49-F238E27FC236}">
                <a16:creationId xmlns:a16="http://schemas.microsoft.com/office/drawing/2014/main" id="{06CA44C6-A042-C9E1-7411-AD13F590F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21300" y="1832112"/>
            <a:ext cx="3250200" cy="1754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PRETRAITEMENT ET PREPARATION DES DONNEES</a:t>
            </a:r>
            <a:endParaRPr sz="3600" dirty="0"/>
          </a:p>
        </p:txBody>
      </p:sp>
      <p:sp>
        <p:nvSpPr>
          <p:cNvPr id="597" name="Google Shape;597;p39">
            <a:extLst>
              <a:ext uri="{FF2B5EF4-FFF2-40B4-BE49-F238E27FC236}">
                <a16:creationId xmlns:a16="http://schemas.microsoft.com/office/drawing/2014/main" id="{F6AA189A-977D-B2B3-E1B6-38175A2F431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21300" y="584963"/>
            <a:ext cx="15915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599" name="Google Shape;599;p39">
            <a:extLst>
              <a:ext uri="{FF2B5EF4-FFF2-40B4-BE49-F238E27FC236}">
                <a16:creationId xmlns:a16="http://schemas.microsoft.com/office/drawing/2014/main" id="{F8160609-4B76-1496-2A51-91B3AD8896AE}"/>
              </a:ext>
            </a:extLst>
          </p:cNvPr>
          <p:cNvGrpSpPr/>
          <p:nvPr/>
        </p:nvGrpSpPr>
        <p:grpSpPr>
          <a:xfrm>
            <a:off x="0" y="4049475"/>
            <a:ext cx="9144000" cy="1524785"/>
            <a:chOff x="0" y="4634298"/>
            <a:chExt cx="9144000" cy="939717"/>
          </a:xfrm>
        </p:grpSpPr>
        <p:sp>
          <p:nvSpPr>
            <p:cNvPr id="600" name="Google Shape;600;p39">
              <a:extLst>
                <a:ext uri="{FF2B5EF4-FFF2-40B4-BE49-F238E27FC236}">
                  <a16:creationId xmlns:a16="http://schemas.microsoft.com/office/drawing/2014/main" id="{7BC2DAC2-96BD-982B-3542-222AB96396FF}"/>
                </a:ext>
              </a:extLst>
            </p:cNvPr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>
              <a:extLst>
                <a:ext uri="{FF2B5EF4-FFF2-40B4-BE49-F238E27FC236}">
                  <a16:creationId xmlns:a16="http://schemas.microsoft.com/office/drawing/2014/main" id="{878077BE-8D3E-2968-EE5F-2EAF043A0726}"/>
                </a:ext>
              </a:extLst>
            </p:cNvPr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>
              <a:extLst>
                <a:ext uri="{FF2B5EF4-FFF2-40B4-BE49-F238E27FC236}">
                  <a16:creationId xmlns:a16="http://schemas.microsoft.com/office/drawing/2014/main" id="{B55C6D39-8DE0-E163-AA06-4B9542439DDE}"/>
                </a:ext>
              </a:extLst>
            </p:cNvPr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>
              <a:extLst>
                <a:ext uri="{FF2B5EF4-FFF2-40B4-BE49-F238E27FC236}">
                  <a16:creationId xmlns:a16="http://schemas.microsoft.com/office/drawing/2014/main" id="{25AAEB04-2189-9746-5010-758A8FE10664}"/>
                </a:ext>
              </a:extLst>
            </p:cNvPr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>
              <a:extLst>
                <a:ext uri="{FF2B5EF4-FFF2-40B4-BE49-F238E27FC236}">
                  <a16:creationId xmlns:a16="http://schemas.microsoft.com/office/drawing/2014/main" id="{AA62E19B-7666-1F5B-2180-A2CD8AF06A80}"/>
                </a:ext>
              </a:extLst>
            </p:cNvPr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>
              <a:extLst>
                <a:ext uri="{FF2B5EF4-FFF2-40B4-BE49-F238E27FC236}">
                  <a16:creationId xmlns:a16="http://schemas.microsoft.com/office/drawing/2014/main" id="{2C567609-C385-F56D-31AA-9B387210EDF0}"/>
                </a:ext>
              </a:extLst>
            </p:cNvPr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>
              <a:extLst>
                <a:ext uri="{FF2B5EF4-FFF2-40B4-BE49-F238E27FC236}">
                  <a16:creationId xmlns:a16="http://schemas.microsoft.com/office/drawing/2014/main" id="{81A5E7B3-F231-409E-CC0D-A0D890E0F46C}"/>
                </a:ext>
              </a:extLst>
            </p:cNvPr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7" name="Google Shape;607;p39">
            <a:extLst>
              <a:ext uri="{FF2B5EF4-FFF2-40B4-BE49-F238E27FC236}">
                <a16:creationId xmlns:a16="http://schemas.microsoft.com/office/drawing/2014/main" id="{3BE5A48E-AE90-8814-8C0E-078FC5012A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01" y="649811"/>
            <a:ext cx="220258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9">
            <a:extLst>
              <a:ext uri="{FF2B5EF4-FFF2-40B4-BE49-F238E27FC236}">
                <a16:creationId xmlns:a16="http://schemas.microsoft.com/office/drawing/2014/main" id="{269C1DA7-12AE-9C49-EB97-ADD467CE343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89" y="-19529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9">
            <a:extLst>
              <a:ext uri="{FF2B5EF4-FFF2-40B4-BE49-F238E27FC236}">
                <a16:creationId xmlns:a16="http://schemas.microsoft.com/office/drawing/2014/main" id="{44BD0217-EBC4-F5F9-CC94-D0D83D55E93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8647" y="389119"/>
            <a:ext cx="579299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9">
            <a:extLst>
              <a:ext uri="{FF2B5EF4-FFF2-40B4-BE49-F238E27FC236}">
                <a16:creationId xmlns:a16="http://schemas.microsoft.com/office/drawing/2014/main" id="{7DA91944-E838-7E54-CB3D-0E7B45EF96B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60" y="36414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>
            <a:extLst>
              <a:ext uri="{FF2B5EF4-FFF2-40B4-BE49-F238E27FC236}">
                <a16:creationId xmlns:a16="http://schemas.microsoft.com/office/drawing/2014/main" id="{1D0DEB94-7675-F0B6-16FE-CA2ECB969FB5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4167" y="1090475"/>
            <a:ext cx="485925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9">
            <a:extLst>
              <a:ext uri="{FF2B5EF4-FFF2-40B4-BE49-F238E27FC236}">
                <a16:creationId xmlns:a16="http://schemas.microsoft.com/office/drawing/2014/main" id="{6278D35D-A619-1D2D-8CF0-A5A6BDCD22B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147" y="1176257"/>
            <a:ext cx="723956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9">
            <a:extLst>
              <a:ext uri="{FF2B5EF4-FFF2-40B4-BE49-F238E27FC236}">
                <a16:creationId xmlns:a16="http://schemas.microsoft.com/office/drawing/2014/main" id="{5928EB8E-8735-8B2F-5952-A66729F2C804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622" y="819618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9">
            <a:extLst>
              <a:ext uri="{FF2B5EF4-FFF2-40B4-BE49-F238E27FC236}">
                <a16:creationId xmlns:a16="http://schemas.microsoft.com/office/drawing/2014/main" id="{FAFB31B5-A574-DC55-DD85-931829AA9367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5700" y="-91924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>
            <a:extLst>
              <a:ext uri="{FF2B5EF4-FFF2-40B4-BE49-F238E27FC236}">
                <a16:creationId xmlns:a16="http://schemas.microsoft.com/office/drawing/2014/main" id="{1D642741-7F5D-DED1-C5EF-1A1316473A77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85361" y="1288679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9">
            <a:extLst>
              <a:ext uri="{FF2B5EF4-FFF2-40B4-BE49-F238E27FC236}">
                <a16:creationId xmlns:a16="http://schemas.microsoft.com/office/drawing/2014/main" id="{1CBC213E-D2E8-7D7C-32BF-4415735858AF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3749" y="309072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9">
            <a:extLst>
              <a:ext uri="{FF2B5EF4-FFF2-40B4-BE49-F238E27FC236}">
                <a16:creationId xmlns:a16="http://schemas.microsoft.com/office/drawing/2014/main" id="{7635604B-482B-91A1-523C-30D33121FA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2593">
            <a:off x="38649" y="1564279"/>
            <a:ext cx="220257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9">
            <a:extLst>
              <a:ext uri="{FF2B5EF4-FFF2-40B4-BE49-F238E27FC236}">
                <a16:creationId xmlns:a16="http://schemas.microsoft.com/office/drawing/2014/main" id="{12FAE26E-1557-86B8-8E4D-8247D6ACB9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12598">
            <a:off x="809232" y="1813073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9">
            <a:extLst>
              <a:ext uri="{FF2B5EF4-FFF2-40B4-BE49-F238E27FC236}">
                <a16:creationId xmlns:a16="http://schemas.microsoft.com/office/drawing/2014/main" id="{D4A93F39-3597-9FC0-5B25-E6182F365E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412599">
            <a:off x="-140861" y="1951556"/>
            <a:ext cx="579300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9">
            <a:extLst>
              <a:ext uri="{FF2B5EF4-FFF2-40B4-BE49-F238E27FC236}">
                <a16:creationId xmlns:a16="http://schemas.microsoft.com/office/drawing/2014/main" id="{74100AEE-FFB6-5D40-FED3-0EED38D284C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71976">
            <a:off x="271624" y="109726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9">
            <a:extLst>
              <a:ext uri="{FF2B5EF4-FFF2-40B4-BE49-F238E27FC236}">
                <a16:creationId xmlns:a16="http://schemas.microsoft.com/office/drawing/2014/main" id="{E99780F9-72D2-B392-7443-D99AA874055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412599">
            <a:off x="1364724" y="927899"/>
            <a:ext cx="485926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9">
            <a:extLst>
              <a:ext uri="{FF2B5EF4-FFF2-40B4-BE49-F238E27FC236}">
                <a16:creationId xmlns:a16="http://schemas.microsoft.com/office/drawing/2014/main" id="{642F5596-5277-645E-D3CA-02012F0B2A8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412601">
            <a:off x="1941682" y="252581"/>
            <a:ext cx="723957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9">
            <a:extLst>
              <a:ext uri="{FF2B5EF4-FFF2-40B4-BE49-F238E27FC236}">
                <a16:creationId xmlns:a16="http://schemas.microsoft.com/office/drawing/2014/main" id="{D424ADF2-D272-282D-C9BD-F5C011B2D4D6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3412598">
            <a:off x="2020091" y="1255834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9">
            <a:extLst>
              <a:ext uri="{FF2B5EF4-FFF2-40B4-BE49-F238E27FC236}">
                <a16:creationId xmlns:a16="http://schemas.microsoft.com/office/drawing/2014/main" id="{0BE794A5-D7D9-9236-037C-B5F0FCCB83FB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412599">
            <a:off x="2733011" y="891699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9">
            <a:extLst>
              <a:ext uri="{FF2B5EF4-FFF2-40B4-BE49-F238E27FC236}">
                <a16:creationId xmlns:a16="http://schemas.microsoft.com/office/drawing/2014/main" id="{08C35A17-EAC7-C23A-692D-00A11755FC81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3412599">
            <a:off x="2008578" y="2418884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9">
            <a:extLst>
              <a:ext uri="{FF2B5EF4-FFF2-40B4-BE49-F238E27FC236}">
                <a16:creationId xmlns:a16="http://schemas.microsoft.com/office/drawing/2014/main" id="{CB7B4841-519B-34DD-9F37-3FBDCABE234E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3412599">
            <a:off x="2486664" y="770920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9">
            <a:extLst>
              <a:ext uri="{FF2B5EF4-FFF2-40B4-BE49-F238E27FC236}">
                <a16:creationId xmlns:a16="http://schemas.microsoft.com/office/drawing/2014/main" id="{CD200963-CCEA-8C7F-7147-82E0D8686118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94176" y="245288"/>
            <a:ext cx="504555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81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59E58633-8C09-A505-1898-9CCC96BA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0">
            <a:extLst>
              <a:ext uri="{FF2B5EF4-FFF2-40B4-BE49-F238E27FC236}">
                <a16:creationId xmlns:a16="http://schemas.microsoft.com/office/drawing/2014/main" id="{23A8544E-D9F1-DFA2-6FE9-DC8F1CD102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27" y="457625"/>
            <a:ext cx="8375692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/>
              <a:t>02 PRETRAITEMENT ET PREPARATION DES DONNEES</a:t>
            </a:r>
          </a:p>
        </p:txBody>
      </p:sp>
      <p:sp>
        <p:nvSpPr>
          <p:cNvPr id="634" name="Google Shape;634;p40">
            <a:extLst>
              <a:ext uri="{FF2B5EF4-FFF2-40B4-BE49-F238E27FC236}">
                <a16:creationId xmlns:a16="http://schemas.microsoft.com/office/drawing/2014/main" id="{59E36FE5-0198-2BD7-2B4C-72829A95ABB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1925" y="1418190"/>
            <a:ext cx="7421536" cy="2769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Importation et nettoyage (split de 'Country and Club' en deux colonnes)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Correction des types de données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Apport de deux nouvelles tables: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fr-FR" sz="1600" dirty="0"/>
              <a:t>Une première portant sur le niveau atteint par chaque équipe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fr-FR" sz="1600" dirty="0"/>
              <a:t>Une deuxième sur les coordonnées géographiques des différents pays (tirée de la base « corona virus »)</a:t>
            </a:r>
          </a:p>
        </p:txBody>
      </p:sp>
    </p:spTree>
    <p:extLst>
      <p:ext uri="{BB962C8B-B14F-4D97-AF65-F5344CB8AC3E}">
        <p14:creationId xmlns:p14="http://schemas.microsoft.com/office/powerpoint/2010/main" val="290291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A70E84B8-6E17-0DE0-6158-5E226A04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0">
            <a:extLst>
              <a:ext uri="{FF2B5EF4-FFF2-40B4-BE49-F238E27FC236}">
                <a16:creationId xmlns:a16="http://schemas.microsoft.com/office/drawing/2014/main" id="{DD5CB9E4-F108-C1F0-3A6F-508FCB793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27" y="457625"/>
            <a:ext cx="8375692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/>
              <a:t>02 PRETRAITEMENT ET PREPARATION DES DONNEES</a:t>
            </a:r>
          </a:p>
        </p:txBody>
      </p:sp>
      <p:sp>
        <p:nvSpPr>
          <p:cNvPr id="634" name="Google Shape;634;p40">
            <a:extLst>
              <a:ext uri="{FF2B5EF4-FFF2-40B4-BE49-F238E27FC236}">
                <a16:creationId xmlns:a16="http://schemas.microsoft.com/office/drawing/2014/main" id="{8648C68C-3313-7ABF-C928-16EF560CCA0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1925" y="1418190"/>
            <a:ext cx="7421536" cy="19942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Implémentation Talend (utilisations des 3 tables)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Table des faits (MySQL)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66510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>
          <a:extLst>
            <a:ext uri="{FF2B5EF4-FFF2-40B4-BE49-F238E27FC236}">
              <a16:creationId xmlns:a16="http://schemas.microsoft.com/office/drawing/2014/main" id="{453ECC1E-EE18-BF5F-E989-65EAF82D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">
            <a:extLst>
              <a:ext uri="{FF2B5EF4-FFF2-40B4-BE49-F238E27FC236}">
                <a16:creationId xmlns:a16="http://schemas.microsoft.com/office/drawing/2014/main" id="{A1FE1D95-688B-4CA6-CE04-397F95EB5A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21300" y="1832112"/>
            <a:ext cx="3250200" cy="1754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ANALYSE ET VISUALISATION (POWER BI)</a:t>
            </a:r>
            <a:endParaRPr sz="3600" dirty="0"/>
          </a:p>
        </p:txBody>
      </p:sp>
      <p:sp>
        <p:nvSpPr>
          <p:cNvPr id="597" name="Google Shape;597;p39">
            <a:extLst>
              <a:ext uri="{FF2B5EF4-FFF2-40B4-BE49-F238E27FC236}">
                <a16:creationId xmlns:a16="http://schemas.microsoft.com/office/drawing/2014/main" id="{099D774F-7279-E5D1-F723-543BF6F323B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21300" y="584963"/>
            <a:ext cx="15915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599" name="Google Shape;599;p39">
            <a:extLst>
              <a:ext uri="{FF2B5EF4-FFF2-40B4-BE49-F238E27FC236}">
                <a16:creationId xmlns:a16="http://schemas.microsoft.com/office/drawing/2014/main" id="{7D4D99FD-F601-29DE-2486-438A09548E53}"/>
              </a:ext>
            </a:extLst>
          </p:cNvPr>
          <p:cNvGrpSpPr/>
          <p:nvPr/>
        </p:nvGrpSpPr>
        <p:grpSpPr>
          <a:xfrm>
            <a:off x="0" y="4049475"/>
            <a:ext cx="9144000" cy="1524785"/>
            <a:chOff x="0" y="4634298"/>
            <a:chExt cx="9144000" cy="939717"/>
          </a:xfrm>
        </p:grpSpPr>
        <p:sp>
          <p:nvSpPr>
            <p:cNvPr id="600" name="Google Shape;600;p39">
              <a:extLst>
                <a:ext uri="{FF2B5EF4-FFF2-40B4-BE49-F238E27FC236}">
                  <a16:creationId xmlns:a16="http://schemas.microsoft.com/office/drawing/2014/main" id="{94A8ACF4-5437-B7A4-43AD-8DCE9A7778C7}"/>
                </a:ext>
              </a:extLst>
            </p:cNvPr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>
              <a:extLst>
                <a:ext uri="{FF2B5EF4-FFF2-40B4-BE49-F238E27FC236}">
                  <a16:creationId xmlns:a16="http://schemas.microsoft.com/office/drawing/2014/main" id="{572764C6-2E70-7825-7731-F5263FD5CD18}"/>
                </a:ext>
              </a:extLst>
            </p:cNvPr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>
              <a:extLst>
                <a:ext uri="{FF2B5EF4-FFF2-40B4-BE49-F238E27FC236}">
                  <a16:creationId xmlns:a16="http://schemas.microsoft.com/office/drawing/2014/main" id="{252F0DBE-2232-B3ED-9499-36CE9C49A382}"/>
                </a:ext>
              </a:extLst>
            </p:cNvPr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>
              <a:extLst>
                <a:ext uri="{FF2B5EF4-FFF2-40B4-BE49-F238E27FC236}">
                  <a16:creationId xmlns:a16="http://schemas.microsoft.com/office/drawing/2014/main" id="{96385679-1044-B3AB-EA94-19F654A1267B}"/>
                </a:ext>
              </a:extLst>
            </p:cNvPr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>
              <a:extLst>
                <a:ext uri="{FF2B5EF4-FFF2-40B4-BE49-F238E27FC236}">
                  <a16:creationId xmlns:a16="http://schemas.microsoft.com/office/drawing/2014/main" id="{75C5336B-A292-1E86-D3A2-5420A03F16F0}"/>
                </a:ext>
              </a:extLst>
            </p:cNvPr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>
              <a:extLst>
                <a:ext uri="{FF2B5EF4-FFF2-40B4-BE49-F238E27FC236}">
                  <a16:creationId xmlns:a16="http://schemas.microsoft.com/office/drawing/2014/main" id="{561F50F4-0E31-0FFD-FFB4-06B75284073B}"/>
                </a:ext>
              </a:extLst>
            </p:cNvPr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>
              <a:extLst>
                <a:ext uri="{FF2B5EF4-FFF2-40B4-BE49-F238E27FC236}">
                  <a16:creationId xmlns:a16="http://schemas.microsoft.com/office/drawing/2014/main" id="{818B0A9A-704D-590B-775E-53A1AF573793}"/>
                </a:ext>
              </a:extLst>
            </p:cNvPr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7" name="Google Shape;607;p39">
            <a:extLst>
              <a:ext uri="{FF2B5EF4-FFF2-40B4-BE49-F238E27FC236}">
                <a16:creationId xmlns:a16="http://schemas.microsoft.com/office/drawing/2014/main" id="{CB6BED8D-3D36-77AF-D6E2-F80578FCB5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01" y="649811"/>
            <a:ext cx="220258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9">
            <a:extLst>
              <a:ext uri="{FF2B5EF4-FFF2-40B4-BE49-F238E27FC236}">
                <a16:creationId xmlns:a16="http://schemas.microsoft.com/office/drawing/2014/main" id="{D9CB3E60-56A1-B71B-C838-EEE52FF9F9C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89" y="-19529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9">
            <a:extLst>
              <a:ext uri="{FF2B5EF4-FFF2-40B4-BE49-F238E27FC236}">
                <a16:creationId xmlns:a16="http://schemas.microsoft.com/office/drawing/2014/main" id="{46D2A2D3-C05C-D436-364B-C83379F0EEC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8647" y="389119"/>
            <a:ext cx="579299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9">
            <a:extLst>
              <a:ext uri="{FF2B5EF4-FFF2-40B4-BE49-F238E27FC236}">
                <a16:creationId xmlns:a16="http://schemas.microsoft.com/office/drawing/2014/main" id="{964C5678-4895-F1F6-2EA3-924DBDAE1D0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60" y="36414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>
            <a:extLst>
              <a:ext uri="{FF2B5EF4-FFF2-40B4-BE49-F238E27FC236}">
                <a16:creationId xmlns:a16="http://schemas.microsoft.com/office/drawing/2014/main" id="{ED97D39E-A6D5-FE1E-ACA9-2BB6C195104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4167" y="1090475"/>
            <a:ext cx="485925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9">
            <a:extLst>
              <a:ext uri="{FF2B5EF4-FFF2-40B4-BE49-F238E27FC236}">
                <a16:creationId xmlns:a16="http://schemas.microsoft.com/office/drawing/2014/main" id="{BC57E605-2D8E-85E2-880D-D93A71F9D5B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147" y="1176257"/>
            <a:ext cx="723956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9">
            <a:extLst>
              <a:ext uri="{FF2B5EF4-FFF2-40B4-BE49-F238E27FC236}">
                <a16:creationId xmlns:a16="http://schemas.microsoft.com/office/drawing/2014/main" id="{842D7AE9-9006-BDC4-A86E-7B26D21C11BA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622" y="819618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9">
            <a:extLst>
              <a:ext uri="{FF2B5EF4-FFF2-40B4-BE49-F238E27FC236}">
                <a16:creationId xmlns:a16="http://schemas.microsoft.com/office/drawing/2014/main" id="{39A1B101-1CB9-B39F-8E8A-977014D1711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5700" y="-91924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>
            <a:extLst>
              <a:ext uri="{FF2B5EF4-FFF2-40B4-BE49-F238E27FC236}">
                <a16:creationId xmlns:a16="http://schemas.microsoft.com/office/drawing/2014/main" id="{0C99CC88-A17B-839C-0CD5-3B17D6ECC66C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85361" y="1288679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9">
            <a:extLst>
              <a:ext uri="{FF2B5EF4-FFF2-40B4-BE49-F238E27FC236}">
                <a16:creationId xmlns:a16="http://schemas.microsoft.com/office/drawing/2014/main" id="{D9664588-6250-4236-F6A3-88C6426C38E6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3749" y="309072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9">
            <a:extLst>
              <a:ext uri="{FF2B5EF4-FFF2-40B4-BE49-F238E27FC236}">
                <a16:creationId xmlns:a16="http://schemas.microsoft.com/office/drawing/2014/main" id="{3740A5D2-3F89-0635-8154-FD701D1ED0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2593">
            <a:off x="38649" y="1564279"/>
            <a:ext cx="220257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9">
            <a:extLst>
              <a:ext uri="{FF2B5EF4-FFF2-40B4-BE49-F238E27FC236}">
                <a16:creationId xmlns:a16="http://schemas.microsoft.com/office/drawing/2014/main" id="{55658E8B-2142-188D-08DB-AEB3F52B57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12598">
            <a:off x="809232" y="1813073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9">
            <a:extLst>
              <a:ext uri="{FF2B5EF4-FFF2-40B4-BE49-F238E27FC236}">
                <a16:creationId xmlns:a16="http://schemas.microsoft.com/office/drawing/2014/main" id="{0A30CFD6-F2A8-2A2A-3541-A459B891297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412599">
            <a:off x="-140861" y="1951556"/>
            <a:ext cx="579300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9">
            <a:extLst>
              <a:ext uri="{FF2B5EF4-FFF2-40B4-BE49-F238E27FC236}">
                <a16:creationId xmlns:a16="http://schemas.microsoft.com/office/drawing/2014/main" id="{12F8418E-C566-A8E8-F8DF-3FB3EEB310D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71976">
            <a:off x="271624" y="109726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9">
            <a:extLst>
              <a:ext uri="{FF2B5EF4-FFF2-40B4-BE49-F238E27FC236}">
                <a16:creationId xmlns:a16="http://schemas.microsoft.com/office/drawing/2014/main" id="{2034AAF9-5E7E-90F4-A022-93B0D447BAE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412599">
            <a:off x="1364724" y="927899"/>
            <a:ext cx="485926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9">
            <a:extLst>
              <a:ext uri="{FF2B5EF4-FFF2-40B4-BE49-F238E27FC236}">
                <a16:creationId xmlns:a16="http://schemas.microsoft.com/office/drawing/2014/main" id="{6B68BA8F-9798-F58A-4A76-8936AD687B9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412601">
            <a:off x="1941682" y="252581"/>
            <a:ext cx="723957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9">
            <a:extLst>
              <a:ext uri="{FF2B5EF4-FFF2-40B4-BE49-F238E27FC236}">
                <a16:creationId xmlns:a16="http://schemas.microsoft.com/office/drawing/2014/main" id="{99EA1D98-6C1F-838F-9A9F-E605627CEC73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3412598">
            <a:off x="2020091" y="1255834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9">
            <a:extLst>
              <a:ext uri="{FF2B5EF4-FFF2-40B4-BE49-F238E27FC236}">
                <a16:creationId xmlns:a16="http://schemas.microsoft.com/office/drawing/2014/main" id="{8A872D5E-1C6E-00B5-F800-ECD87CF0E2DD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412599">
            <a:off x="2733011" y="891699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9">
            <a:extLst>
              <a:ext uri="{FF2B5EF4-FFF2-40B4-BE49-F238E27FC236}">
                <a16:creationId xmlns:a16="http://schemas.microsoft.com/office/drawing/2014/main" id="{758A62D3-2D65-2A74-58E8-AACA20E7ACF7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3412599">
            <a:off x="2008578" y="2418884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9">
            <a:extLst>
              <a:ext uri="{FF2B5EF4-FFF2-40B4-BE49-F238E27FC236}">
                <a16:creationId xmlns:a16="http://schemas.microsoft.com/office/drawing/2014/main" id="{93211640-79AA-D0CA-8F8B-F72F7DBDEFF7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3412599">
            <a:off x="2486664" y="770920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9">
            <a:extLst>
              <a:ext uri="{FF2B5EF4-FFF2-40B4-BE49-F238E27FC236}">
                <a16:creationId xmlns:a16="http://schemas.microsoft.com/office/drawing/2014/main" id="{2C0FCA07-AA87-0588-C027-67A35A03BBD9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94176" y="245288"/>
            <a:ext cx="504555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598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60B1968F-D712-CA82-3A8D-F67A79F8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0">
            <a:extLst>
              <a:ext uri="{FF2B5EF4-FFF2-40B4-BE49-F238E27FC236}">
                <a16:creationId xmlns:a16="http://schemas.microsoft.com/office/drawing/2014/main" id="{FFA507C2-1BBE-853E-51E1-98E757964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27" y="457625"/>
            <a:ext cx="8375692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/>
              <a:t>03 ANALYSE ET VISUALISATION AVEC POWER BI</a:t>
            </a:r>
          </a:p>
        </p:txBody>
      </p:sp>
      <p:sp>
        <p:nvSpPr>
          <p:cNvPr id="634" name="Google Shape;634;p40">
            <a:extLst>
              <a:ext uri="{FF2B5EF4-FFF2-40B4-BE49-F238E27FC236}">
                <a16:creationId xmlns:a16="http://schemas.microsoft.com/office/drawing/2014/main" id="{2EBE9D4D-DD67-F39B-4CD2-3F58F595E99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88505" y="1349340"/>
            <a:ext cx="7421536" cy="2564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Visuels permettant d’avoir une vue d’ensemble sur la base de données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Une comparaison des caractéristiques des équipes ayant atteint un meilleur niveau par rapport aux autres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Un zoom sur la France (le champion du monde 2018)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Un regard particulier sur les caractéristiques du meilleur joueur de la compétition</a:t>
            </a:r>
          </a:p>
        </p:txBody>
      </p:sp>
    </p:spTree>
    <p:extLst>
      <p:ext uri="{BB962C8B-B14F-4D97-AF65-F5344CB8AC3E}">
        <p14:creationId xmlns:p14="http://schemas.microsoft.com/office/powerpoint/2010/main" val="91813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>
          <a:extLst>
            <a:ext uri="{FF2B5EF4-FFF2-40B4-BE49-F238E27FC236}">
              <a16:creationId xmlns:a16="http://schemas.microsoft.com/office/drawing/2014/main" id="{176894F9-D888-F6E3-3E05-980F7748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">
            <a:extLst>
              <a:ext uri="{FF2B5EF4-FFF2-40B4-BE49-F238E27FC236}">
                <a16:creationId xmlns:a16="http://schemas.microsoft.com/office/drawing/2014/main" id="{5E66FBA6-5419-4662-A781-0D2D0DCEF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21300" y="1832112"/>
            <a:ext cx="3250200" cy="1444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RESULTATS ET VALEUR AJOUTEE</a:t>
            </a:r>
            <a:endParaRPr sz="3600" dirty="0"/>
          </a:p>
        </p:txBody>
      </p:sp>
      <p:sp>
        <p:nvSpPr>
          <p:cNvPr id="597" name="Google Shape;597;p39">
            <a:extLst>
              <a:ext uri="{FF2B5EF4-FFF2-40B4-BE49-F238E27FC236}">
                <a16:creationId xmlns:a16="http://schemas.microsoft.com/office/drawing/2014/main" id="{4E9B9DCB-4023-329F-A863-6D72415BC22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21300" y="584963"/>
            <a:ext cx="15915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599" name="Google Shape;599;p39">
            <a:extLst>
              <a:ext uri="{FF2B5EF4-FFF2-40B4-BE49-F238E27FC236}">
                <a16:creationId xmlns:a16="http://schemas.microsoft.com/office/drawing/2014/main" id="{61246EE5-E1EE-148D-BB85-04AF30E6A4FF}"/>
              </a:ext>
            </a:extLst>
          </p:cNvPr>
          <p:cNvGrpSpPr/>
          <p:nvPr/>
        </p:nvGrpSpPr>
        <p:grpSpPr>
          <a:xfrm>
            <a:off x="0" y="4049475"/>
            <a:ext cx="9144000" cy="1524785"/>
            <a:chOff x="0" y="4634298"/>
            <a:chExt cx="9144000" cy="939717"/>
          </a:xfrm>
        </p:grpSpPr>
        <p:sp>
          <p:nvSpPr>
            <p:cNvPr id="600" name="Google Shape;600;p39">
              <a:extLst>
                <a:ext uri="{FF2B5EF4-FFF2-40B4-BE49-F238E27FC236}">
                  <a16:creationId xmlns:a16="http://schemas.microsoft.com/office/drawing/2014/main" id="{1501F172-750B-E615-088D-709BD86B3871}"/>
                </a:ext>
              </a:extLst>
            </p:cNvPr>
            <p:cNvSpPr/>
            <p:nvPr/>
          </p:nvSpPr>
          <p:spPr>
            <a:xfrm>
              <a:off x="0" y="4634300"/>
              <a:ext cx="9144000" cy="753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>
              <a:extLst>
                <a:ext uri="{FF2B5EF4-FFF2-40B4-BE49-F238E27FC236}">
                  <a16:creationId xmlns:a16="http://schemas.microsoft.com/office/drawing/2014/main" id="{AC22AE36-8F3F-C17F-AED0-674CF418F79B}"/>
                </a:ext>
              </a:extLst>
            </p:cNvPr>
            <p:cNvSpPr/>
            <p:nvPr/>
          </p:nvSpPr>
          <p:spPr>
            <a:xfrm>
              <a:off x="1681680" y="4634298"/>
              <a:ext cx="5780640" cy="939717"/>
            </a:xfrm>
            <a:custGeom>
              <a:avLst/>
              <a:gdLst/>
              <a:ahLst/>
              <a:cxnLst/>
              <a:rect l="l" t="t" r="r" b="b"/>
              <a:pathLst>
                <a:path w="183965" h="55075" extrusionOk="0">
                  <a:moveTo>
                    <a:pt x="85364" y="7483"/>
                  </a:moveTo>
                  <a:cubicBezTo>
                    <a:pt x="86844" y="7483"/>
                    <a:pt x="88084" y="7509"/>
                    <a:pt x="89022" y="7561"/>
                  </a:cubicBezTo>
                  <a:lnTo>
                    <a:pt x="88811" y="20926"/>
                  </a:lnTo>
                  <a:cubicBezTo>
                    <a:pt x="73372" y="20890"/>
                    <a:pt x="58882" y="20152"/>
                    <a:pt x="47944" y="18851"/>
                  </a:cubicBezTo>
                  <a:cubicBezTo>
                    <a:pt x="0" y="12296"/>
                    <a:pt x="65133" y="7483"/>
                    <a:pt x="85364" y="7483"/>
                  </a:cubicBezTo>
                  <a:close/>
                  <a:moveTo>
                    <a:pt x="93685" y="7462"/>
                  </a:moveTo>
                  <a:cubicBezTo>
                    <a:pt x="114596" y="7462"/>
                    <a:pt x="179624" y="12285"/>
                    <a:pt x="131717" y="18851"/>
                  </a:cubicBezTo>
                  <a:cubicBezTo>
                    <a:pt x="120498" y="20187"/>
                    <a:pt x="105622" y="20926"/>
                    <a:pt x="89796" y="20926"/>
                  </a:cubicBezTo>
                  <a:lnTo>
                    <a:pt x="89514" y="7561"/>
                  </a:lnTo>
                  <a:cubicBezTo>
                    <a:pt x="90549" y="7495"/>
                    <a:pt x="91968" y="7462"/>
                    <a:pt x="93685" y="7462"/>
                  </a:cubicBezTo>
                  <a:close/>
                  <a:moveTo>
                    <a:pt x="89127" y="0"/>
                  </a:moveTo>
                  <a:lnTo>
                    <a:pt x="89022" y="6788"/>
                  </a:lnTo>
                  <a:cubicBezTo>
                    <a:pt x="8449" y="6823"/>
                    <a:pt x="7781" y="21594"/>
                    <a:pt x="88811" y="21699"/>
                  </a:cubicBezTo>
                  <a:lnTo>
                    <a:pt x="88248" y="55075"/>
                  </a:lnTo>
                  <a:lnTo>
                    <a:pt x="90464" y="55075"/>
                  </a:lnTo>
                  <a:lnTo>
                    <a:pt x="89796" y="21699"/>
                  </a:lnTo>
                  <a:lnTo>
                    <a:pt x="89796" y="21699"/>
                  </a:lnTo>
                  <a:cubicBezTo>
                    <a:pt x="91149" y="21810"/>
                    <a:pt x="93058" y="21863"/>
                    <a:pt x="95372" y="21863"/>
                  </a:cubicBezTo>
                  <a:cubicBezTo>
                    <a:pt x="118844" y="21863"/>
                    <a:pt x="183964" y="16354"/>
                    <a:pt x="133511" y="8863"/>
                  </a:cubicBezTo>
                  <a:cubicBezTo>
                    <a:pt x="121800" y="7526"/>
                    <a:pt x="106009" y="6788"/>
                    <a:pt x="89514" y="6788"/>
                  </a:cubicBezTo>
                  <a:lnTo>
                    <a:pt x="89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>
              <a:extLst>
                <a:ext uri="{FF2B5EF4-FFF2-40B4-BE49-F238E27FC236}">
                  <a16:creationId xmlns:a16="http://schemas.microsoft.com/office/drawing/2014/main" id="{779578D1-BE08-0E05-418F-DC3B2CC78DAB}"/>
                </a:ext>
              </a:extLst>
            </p:cNvPr>
            <p:cNvSpPr/>
            <p:nvPr/>
          </p:nvSpPr>
          <p:spPr>
            <a:xfrm>
              <a:off x="5067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>
              <a:extLst>
                <a:ext uri="{FF2B5EF4-FFF2-40B4-BE49-F238E27FC236}">
                  <a16:creationId xmlns:a16="http://schemas.microsoft.com/office/drawing/2014/main" id="{C867BB2F-EEAE-B020-CAEE-5EBB84CA029D}"/>
                </a:ext>
              </a:extLst>
            </p:cNvPr>
            <p:cNvSpPr/>
            <p:nvPr/>
          </p:nvSpPr>
          <p:spPr>
            <a:xfrm>
              <a:off x="23355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>
              <a:extLst>
                <a:ext uri="{FF2B5EF4-FFF2-40B4-BE49-F238E27FC236}">
                  <a16:creationId xmlns:a16="http://schemas.microsoft.com/office/drawing/2014/main" id="{6C551083-BDA8-A0F8-9327-0716D6217E18}"/>
                </a:ext>
              </a:extLst>
            </p:cNvPr>
            <p:cNvSpPr/>
            <p:nvPr/>
          </p:nvSpPr>
          <p:spPr>
            <a:xfrm>
              <a:off x="41643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>
              <a:extLst>
                <a:ext uri="{FF2B5EF4-FFF2-40B4-BE49-F238E27FC236}">
                  <a16:creationId xmlns:a16="http://schemas.microsoft.com/office/drawing/2014/main" id="{E450DF91-3C49-FF80-20C8-0430218C312F}"/>
                </a:ext>
              </a:extLst>
            </p:cNvPr>
            <p:cNvSpPr/>
            <p:nvPr/>
          </p:nvSpPr>
          <p:spPr>
            <a:xfrm>
              <a:off x="59931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>
              <a:extLst>
                <a:ext uri="{FF2B5EF4-FFF2-40B4-BE49-F238E27FC236}">
                  <a16:creationId xmlns:a16="http://schemas.microsoft.com/office/drawing/2014/main" id="{0D90260C-DAB3-5143-C1AB-13EEFC582FBE}"/>
                </a:ext>
              </a:extLst>
            </p:cNvPr>
            <p:cNvSpPr/>
            <p:nvPr/>
          </p:nvSpPr>
          <p:spPr>
            <a:xfrm>
              <a:off x="7821925" y="4644400"/>
              <a:ext cx="904800" cy="752400"/>
            </a:xfrm>
            <a:prstGeom prst="rect">
              <a:avLst/>
            </a:prstGeom>
            <a:solidFill>
              <a:srgbClr val="FFFFFF">
                <a:alpha val="1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7" name="Google Shape;607;p39">
            <a:extLst>
              <a:ext uri="{FF2B5EF4-FFF2-40B4-BE49-F238E27FC236}">
                <a16:creationId xmlns:a16="http://schemas.microsoft.com/office/drawing/2014/main" id="{4EC418AE-F7B0-5DCB-E5D5-1171BEEA45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01" y="649811"/>
            <a:ext cx="220258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9">
            <a:extLst>
              <a:ext uri="{FF2B5EF4-FFF2-40B4-BE49-F238E27FC236}">
                <a16:creationId xmlns:a16="http://schemas.microsoft.com/office/drawing/2014/main" id="{7340B6E4-787A-CFC1-7180-48464A64F19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89" y="-19529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9">
            <a:extLst>
              <a:ext uri="{FF2B5EF4-FFF2-40B4-BE49-F238E27FC236}">
                <a16:creationId xmlns:a16="http://schemas.microsoft.com/office/drawing/2014/main" id="{9C38CD0E-EED6-2EA8-9EF2-2FB7AD49D02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8647" y="389119"/>
            <a:ext cx="579299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9">
            <a:extLst>
              <a:ext uri="{FF2B5EF4-FFF2-40B4-BE49-F238E27FC236}">
                <a16:creationId xmlns:a16="http://schemas.microsoft.com/office/drawing/2014/main" id="{F7A811EE-0F4D-BB90-EF7B-BD1F808398E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60" y="36414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>
            <a:extLst>
              <a:ext uri="{FF2B5EF4-FFF2-40B4-BE49-F238E27FC236}">
                <a16:creationId xmlns:a16="http://schemas.microsoft.com/office/drawing/2014/main" id="{56B41B07-1868-B699-E001-F80C4906B40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4167" y="1090475"/>
            <a:ext cx="485925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9">
            <a:extLst>
              <a:ext uri="{FF2B5EF4-FFF2-40B4-BE49-F238E27FC236}">
                <a16:creationId xmlns:a16="http://schemas.microsoft.com/office/drawing/2014/main" id="{D6BBAF89-C73B-2803-30BA-66E250F3C0C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147" y="1176257"/>
            <a:ext cx="723956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9">
            <a:extLst>
              <a:ext uri="{FF2B5EF4-FFF2-40B4-BE49-F238E27FC236}">
                <a16:creationId xmlns:a16="http://schemas.microsoft.com/office/drawing/2014/main" id="{004CABF9-F70F-40DA-E0CC-AC55921819AD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622" y="819618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9">
            <a:extLst>
              <a:ext uri="{FF2B5EF4-FFF2-40B4-BE49-F238E27FC236}">
                <a16:creationId xmlns:a16="http://schemas.microsoft.com/office/drawing/2014/main" id="{C8F51DC5-7ECB-68F6-F244-C1A4015DAEC9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5700" y="-91924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>
            <a:extLst>
              <a:ext uri="{FF2B5EF4-FFF2-40B4-BE49-F238E27FC236}">
                <a16:creationId xmlns:a16="http://schemas.microsoft.com/office/drawing/2014/main" id="{F330E22F-3626-5968-08C6-A9BCD9B0FF76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85361" y="1288679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9">
            <a:extLst>
              <a:ext uri="{FF2B5EF4-FFF2-40B4-BE49-F238E27FC236}">
                <a16:creationId xmlns:a16="http://schemas.microsoft.com/office/drawing/2014/main" id="{07400224-8ABC-CFD9-2C12-0A606F41E640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3749" y="309072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9">
            <a:extLst>
              <a:ext uri="{FF2B5EF4-FFF2-40B4-BE49-F238E27FC236}">
                <a16:creationId xmlns:a16="http://schemas.microsoft.com/office/drawing/2014/main" id="{BF06ABE3-D1B9-8951-1D2B-901C35A82B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2593">
            <a:off x="38649" y="1564279"/>
            <a:ext cx="220257" cy="22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9">
            <a:extLst>
              <a:ext uri="{FF2B5EF4-FFF2-40B4-BE49-F238E27FC236}">
                <a16:creationId xmlns:a16="http://schemas.microsoft.com/office/drawing/2014/main" id="{70164089-1766-4FA5-E343-7A5F728EE6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12598">
            <a:off x="809232" y="1813073"/>
            <a:ext cx="378925" cy="36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9">
            <a:extLst>
              <a:ext uri="{FF2B5EF4-FFF2-40B4-BE49-F238E27FC236}">
                <a16:creationId xmlns:a16="http://schemas.microsoft.com/office/drawing/2014/main" id="{FAAB2F4E-5336-F33A-812E-873D7EE3894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412599">
            <a:off x="-140861" y="1951556"/>
            <a:ext cx="579300" cy="53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9">
            <a:extLst>
              <a:ext uri="{FF2B5EF4-FFF2-40B4-BE49-F238E27FC236}">
                <a16:creationId xmlns:a16="http://schemas.microsoft.com/office/drawing/2014/main" id="{C8F3557B-8E2D-049D-2137-071A2090516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71976">
            <a:off x="271624" y="1097262"/>
            <a:ext cx="838460" cy="3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9">
            <a:extLst>
              <a:ext uri="{FF2B5EF4-FFF2-40B4-BE49-F238E27FC236}">
                <a16:creationId xmlns:a16="http://schemas.microsoft.com/office/drawing/2014/main" id="{0E7935F6-FE5B-0137-1EC9-BEBFEF77888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412599">
            <a:off x="1364724" y="927899"/>
            <a:ext cx="485926" cy="36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9">
            <a:extLst>
              <a:ext uri="{FF2B5EF4-FFF2-40B4-BE49-F238E27FC236}">
                <a16:creationId xmlns:a16="http://schemas.microsoft.com/office/drawing/2014/main" id="{A575211D-30EA-FC47-C2CB-B90DC173EAE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412601">
            <a:off x="1941682" y="252581"/>
            <a:ext cx="723957" cy="47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9">
            <a:extLst>
              <a:ext uri="{FF2B5EF4-FFF2-40B4-BE49-F238E27FC236}">
                <a16:creationId xmlns:a16="http://schemas.microsoft.com/office/drawing/2014/main" id="{56D85CCC-F0AA-E0D8-7B4D-E094CD555B27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3412598">
            <a:off x="2020091" y="1255834"/>
            <a:ext cx="302444" cy="2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9">
            <a:extLst>
              <a:ext uri="{FF2B5EF4-FFF2-40B4-BE49-F238E27FC236}">
                <a16:creationId xmlns:a16="http://schemas.microsoft.com/office/drawing/2014/main" id="{7816FEEF-1903-C496-F722-36FC86ED7A47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412599">
            <a:off x="2733011" y="891699"/>
            <a:ext cx="723954" cy="44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9">
            <a:extLst>
              <a:ext uri="{FF2B5EF4-FFF2-40B4-BE49-F238E27FC236}">
                <a16:creationId xmlns:a16="http://schemas.microsoft.com/office/drawing/2014/main" id="{730960FA-E317-B9B0-F00F-156C7495EB64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3412599">
            <a:off x="2008578" y="2418884"/>
            <a:ext cx="102902" cy="13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9">
            <a:extLst>
              <a:ext uri="{FF2B5EF4-FFF2-40B4-BE49-F238E27FC236}">
                <a16:creationId xmlns:a16="http://schemas.microsoft.com/office/drawing/2014/main" id="{CC9E24A6-EB23-A721-C594-1798C2E55481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3412599">
            <a:off x="2486664" y="770920"/>
            <a:ext cx="59073" cy="8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9">
            <a:extLst>
              <a:ext uri="{FF2B5EF4-FFF2-40B4-BE49-F238E27FC236}">
                <a16:creationId xmlns:a16="http://schemas.microsoft.com/office/drawing/2014/main" id="{78C5DE13-6251-D8F3-C1C7-13558537EC15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94176" y="245288"/>
            <a:ext cx="504555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236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DF627011-26B3-B3A8-F55C-FF3BD2EA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0">
            <a:extLst>
              <a:ext uri="{FF2B5EF4-FFF2-40B4-BE49-F238E27FC236}">
                <a16:creationId xmlns:a16="http://schemas.microsoft.com/office/drawing/2014/main" id="{126C0F16-8264-DDF4-8D54-5DA41FD59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27" y="457625"/>
            <a:ext cx="8375692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/>
              <a:t>03 RESULTAT ET VALEUR AJOUTEE</a:t>
            </a:r>
          </a:p>
        </p:txBody>
      </p:sp>
      <p:sp>
        <p:nvSpPr>
          <p:cNvPr id="634" name="Google Shape;634;p40">
            <a:extLst>
              <a:ext uri="{FF2B5EF4-FFF2-40B4-BE49-F238E27FC236}">
                <a16:creationId xmlns:a16="http://schemas.microsoft.com/office/drawing/2014/main" id="{4F9AD6A8-B9F1-2DF6-59F2-036C4DF86F8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88505" y="1349340"/>
            <a:ext cx="7421536" cy="2564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/>
              <a:t>Nous allons nous référer au rapport sur Power BI pour plus de précision</a:t>
            </a:r>
          </a:p>
        </p:txBody>
      </p:sp>
    </p:spTree>
    <p:extLst>
      <p:ext uri="{BB962C8B-B14F-4D97-AF65-F5344CB8AC3E}">
        <p14:creationId xmlns:p14="http://schemas.microsoft.com/office/powerpoint/2010/main" val="256164052"/>
      </p:ext>
    </p:extLst>
  </p:cSld>
  <p:clrMapOvr>
    <a:masterClrMapping/>
  </p:clrMapOvr>
</p:sld>
</file>

<file path=ppt/theme/theme1.xml><?xml version="1.0" encoding="utf-8"?>
<a:theme xmlns:a="http://schemas.openxmlformats.org/drawingml/2006/main" name="Football Global Cup by Slidesgo">
  <a:themeElements>
    <a:clrScheme name="Simple Light">
      <a:dk1>
        <a:srgbClr val="6BBCFF"/>
      </a:dk1>
      <a:lt1>
        <a:srgbClr val="043C7A"/>
      </a:lt1>
      <a:dk2>
        <a:srgbClr val="020B36"/>
      </a:dk2>
      <a:lt2>
        <a:srgbClr val="83C850"/>
      </a:lt2>
      <a:accent1>
        <a:srgbClr val="36571D"/>
      </a:accent1>
      <a:accent2>
        <a:srgbClr val="E28806"/>
      </a:accent2>
      <a:accent3>
        <a:srgbClr val="F8D52A"/>
      </a:accent3>
      <a:accent4>
        <a:srgbClr val="FEF57D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386</Words>
  <Application>Microsoft Office PowerPoint</Application>
  <PresentationFormat>Affichage à l'écran (16:9)</PresentationFormat>
  <Paragraphs>57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Wingdings</vt:lpstr>
      <vt:lpstr>Arial</vt:lpstr>
      <vt:lpstr>Koulen</vt:lpstr>
      <vt:lpstr>Lexend Medium</vt:lpstr>
      <vt:lpstr>Football Global Cup by Slidesgo</vt:lpstr>
      <vt:lpstr>Football Global Cup 2018 </vt:lpstr>
      <vt:lpstr>PLAN DE PRESENTATION</vt:lpstr>
      <vt:lpstr>INTRODUCTION</vt:lpstr>
      <vt:lpstr>INTRODUCTION</vt:lpstr>
      <vt:lpstr>CONTEXTE ET JUSTIFICATIF</vt:lpstr>
      <vt:lpstr>01 CONTEXTE ET JUSTIFICATIF</vt:lpstr>
      <vt:lpstr>PRETRAITEMENT ET PREPARATION DES DONNEES</vt:lpstr>
      <vt:lpstr>02 PRETRAITEMENT ET PREPARATION DES DONNEES</vt:lpstr>
      <vt:lpstr>02 PRETRAITEMENT ET PREPARATION DES DONNEES</vt:lpstr>
      <vt:lpstr>ANALYSE ET VISUALISATION (POWER BI)</vt:lpstr>
      <vt:lpstr>03 ANALYSE ET VISUALISATION AVEC POWER BI</vt:lpstr>
      <vt:lpstr>RESULTATS ET VALEUR AJOUTEE</vt:lpstr>
      <vt:lpstr>03 RESULTAT ET VALEUR AJOUTEE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ABDOULKARIMOU ABARADINE Ahmed</cp:lastModifiedBy>
  <cp:revision>9</cp:revision>
  <dcterms:modified xsi:type="dcterms:W3CDTF">2025-03-26T10:08:20Z</dcterms:modified>
</cp:coreProperties>
</file>